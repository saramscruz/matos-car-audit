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21"/>
    <p:sldId id="258" r:id="rId4"/>
    <p:sldId id="259" r:id="rId5"/>
    <p:sldId id="260" r:id="rId6"/>
    <p:sldId id="262" r:id="rId8"/>
    <p:sldId id="264" r:id="rId10"/>
    <p:sldId id="263" r:id="rId9"/>
    <p:sldId id="261" r:id="rId7"/>
    <p:sldId id="265" r:id="rId11"/>
    <p:sldId id="266" r:id="rId12"/>
    <p:sldId id="271" r:id="rId2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MatosCar visível</c:v>
                </c:pt>
              </c:strCache>
            </c:strRef>
          </c:tx>
          <c:spPr>
            <a:solidFill>
              <a:srgbClr val="1728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2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Orgânico</c:v>
                  </c:pt>
                  <c:pt idx="1">
                    <c:v>Mapas / Local</c:v>
                  </c:pt>
                  <c:pt idx="2">
                    <c:v>Anúncios (pago)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46</c:v>
                </c:pt>
                <c:pt idx="2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C2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em tom de confianca. Frase de entrada: fiz esta analise de fora, com os mesmos dados que qualquer cliente vosso ve, e mesmo assim encontrei coisas accionaveis. Nao pedir desculpa pela falta de dados internos.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 o negocio antes dos problemas. Reconhecer a forca. Depois virar para a pergunta: estar bom no stand fisico nao garante estar visivel no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vende credibilidade. Sublinhar: declaro o que nao sei. E o que separa analise seria de 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Transicao. Escolhi cinco. Nao sao as unicas, mas sao as que eu levaria a uma reuniao de direcao.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achado mais forte e mais barato de corrigir. Nao e falta de procura, e configuracao. Isto sozinho paga 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nao e tudo mau. O problema e pontual e barato. Honestidade: a amostra e pequena.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com o tom: a abertura e de junho, e normal ainda nao ranquear. Vender como janela para fazer bem a primeira, nao como catastrofe.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dono vai reagir: a Kia vende-me volume. Concordar. A Citroen tem procura e zero apoio: dinheiro em cima da mesa. Assumir que Trends e sinal relativo.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grafico fala por si. Presenca organica e mapas razoavel, pago e zero. Nao e obrigatorio anunciar, mas e uma decisao. Perguntar: isto e opcao ou lapso?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equilibrio. Mostra que vejo o que esta bem. Prepara as recomendacoes: ligar o que ja existe, nao construir de raiz. Barato.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coisas para segunda-feira. Todas usam o que ja existe. Nao prometo euros porque nao tenho os vossos dados, e ai entra a Fase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pedido, com jeito. A limitacao de hoje e a proposta de amanha. Olhar o dono nos olhos: deem-me acesso e transformo diagnostico em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Concreto e curto. O que preciso, o que entrego, quanto tempo. Nao falar de preco a menos que perguntem.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confiante. Repetir a frase-ancora. Convidar perguntas, sobretudo: e com os nossos dados, o que consegue?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02775" y="320040"/>
            <a:ext cx="2651760" cy="2651760"/>
          </a:xfrm>
          <a:prstGeom prst="ellipse">
            <a:avLst/>
          </a:prstGeom>
          <a:solidFill>
            <a:srgbClr val="0F1E3D"/>
          </a:solidFill>
          <a:ln w="13970">
            <a:solidFill>
              <a:srgbClr val="B88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68535" y="685800"/>
            <a:ext cx="1920240" cy="1920240"/>
          </a:xfrm>
          <a:prstGeom prst="ellipse">
            <a:avLst/>
          </a:prstGeom>
          <a:solidFill>
            <a:srgbClr val="0F1E3D"/>
          </a:solidFill>
          <a:ln w="13970">
            <a:solidFill>
              <a:srgbClr val="B8862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1051560"/>
            <a:ext cx="1188720" cy="1188720"/>
          </a:xfrm>
          <a:prstGeom prst="ellipse">
            <a:avLst/>
          </a:prstGeom>
          <a:solidFill>
            <a:srgbClr val="0F1E3D"/>
          </a:solidFill>
          <a:ln w="13970">
            <a:solidFill>
              <a:srgbClr val="B8862B">
                <a:alpha val="6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INDEPENDENTE DE PROCURA DIGITAL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a procura —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a MatosCar a está a captar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MatosCar · Interior de Portugal ·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2926080" cy="0"/>
          </a:xfrm>
          <a:prstGeom prst="line">
            <a:avLst/>
          </a:prstGeom>
          <a:noFill/>
          <a:ln w="19050">
            <a:solidFill>
              <a:srgbClr val="B88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Cruz</a:t>
            </a:r>
            <a:pPr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Analista de Dados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7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dados públicos  ·  zero acesso a dados internos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grupo forte, num mercado que mudou de sítio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6285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3362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a vender no Interior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4418" y="1965960"/>
            <a:ext cx="336285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14418" y="2103120"/>
            <a:ext cx="3362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97298" y="29718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representadas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8757" y="1965960"/>
            <a:ext cx="336285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8757" y="2103120"/>
            <a:ext cx="3362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371637" y="29718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distritos: Guarda, C. Branco,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Portalegre, Évora, Beja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911535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2976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de compra de um automóvel começa hoje numa pesquisa online.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7280" y="493776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deste trabalho é simples: a procura existe no Interior — e a MatosCar aparece no momento exacto em que ela acontece? Nos motores de busca, nos mapas, no próprio site.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 do próprio site amatoscar.pt, consultado em jun–jul 2026.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 FEITO — E PORQUE PODE CONFIAR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módulos, uma pergunta de cada vez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67128"/>
            <a:ext cx="566928" cy="566928"/>
          </a:xfrm>
          <a:prstGeom prst="ellipse">
            <a:avLst/>
          </a:prstGeom>
          <a:solidFill>
            <a:srgbClr val="B886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066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Trends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487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pesquisas · 5 marcas · 12 meses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2176272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há procura?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374136"/>
            <a:ext cx="566928" cy="566928"/>
          </a:xfrm>
          <a:prstGeom prst="ellipse">
            <a:avLst/>
          </a:prstGeom>
          <a:solidFill>
            <a:srgbClr val="B8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374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Funil digital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checkpoints no amatoscar.pt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338328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site capta essa procura?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334256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581144"/>
            <a:ext cx="566928" cy="566928"/>
          </a:xfrm>
          <a:prstGeom prst="ellipse">
            <a:avLst/>
          </a:prstGeom>
          <a:solidFill>
            <a:srgbClr val="B8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581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8308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Visibilidade local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83080" y="4901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pesquisas em 7 distritos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4590288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Aparece à frente da concorrência?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0F1E3D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5504688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com dados 100% públicos e gratuitos. </a:t>
            </a:r>
            <a:pPr indent="0" marL="0">
              <a:buNone/>
            </a:pPr>
            <a:r>
              <a:rPr lang="en-US" sz="14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limitações estão declaradas em cada passo — rigor, não marketing.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7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7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PÚBLICOS JÁ REVELAM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coisas que valem uma conversa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mais accionável para a mais estrutural.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8862B"/>
                </a:solidFill>
                <a:latin typeface="Calibri"/>
              </a:rPr>
              <a:t>ACHADO 1 · VISIBILIDADE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333"/>
                </a:solidFill>
                <a:latin typeface="Cambria"/>
              </a:rPr>
              <a:t>O espaço mais valioso do Google, entregue à concorrência</a:t>
            </a:r>
          </a:p>
        </p:txBody>
      </p:sp>
      <p:pic>
        <p:nvPicPr>
          <p:cNvPr id="4" name="Picture 3" descr="castelo-branco-byd-1-anot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19"/>
            <a:ext cx="2792186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327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Calibri"/>
              </a:rPr>
              <a:t>Pesquisa real “BYD Castelo Branco” — telemóvel, jul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874519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C0392B"/>
                </a:solidFill>
                <a:latin typeface="Cambria"/>
              </a:rPr>
              <a:t>2 de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761488"/>
            <a:ext cx="7845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C2333"/>
                </a:solidFill>
                <a:latin typeface="Calibri"/>
              </a:rPr>
              <a:t>marcas em que o Google entrega o painel a um concorrente ou à marca errada — Audi · BYD.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3493008"/>
            <a:ext cx="7845552" cy="932688"/>
          </a:xfrm>
          <a:prstGeom prst="rect">
            <a:avLst/>
          </a:prstGeom>
          <a:solidFill>
            <a:srgbClr val="F3F6FB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59352" y="3712463"/>
            <a:ext cx="475488" cy="47548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371246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611880"/>
            <a:ext cx="6656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480"/>
                </a:solidFill>
                <a:latin typeface="Calibri"/>
              </a:rPr>
              <a:t>DEVIA APARECER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877056"/>
            <a:ext cx="6656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333"/>
                </a:solidFill>
                <a:latin typeface="Cambria"/>
              </a:rPr>
              <a:t>A MatosCar, com perfil próprio de Audi e de BYD.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4553712"/>
            <a:ext cx="78455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9352" y="4773168"/>
            <a:ext cx="475488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477316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672584"/>
            <a:ext cx="6656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480"/>
                </a:solidFill>
                <a:latin typeface="Calibri"/>
              </a:rPr>
              <a:t>APARECE HOJE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937760"/>
            <a:ext cx="6656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C2333"/>
                </a:solidFill>
                <a:latin typeface="Calibri"/>
              </a:rPr>
              <a:t>Audi → o perfil da Volkswagen · BYD → a Rodda, concorrente direto.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5614416"/>
            <a:ext cx="7845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E3D"/>
                </a:solidFill>
                <a:latin typeface="Cambria"/>
              </a:rPr>
              <a:t>É a montra nº 1 de cada marca — e em duas está a apontar clientes para outra loja.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Calibri"/>
              </a:rPr>
              <a:t>Fonte: Módulo 3, pesquisa incógnita “BYD Castelo Branco”, jul 2026. Causa provável: Google Business Profile não segmentado por marca.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5 · REPUTAÇÃO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reputação joga sobretudo a vosso favor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27168" cy="2514600"/>
          </a:xfrm>
          <a:prstGeom prst="roundRect">
            <a:avLst>
              <a:gd name="adj" fmla="val 3273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286000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449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 ★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Citroën — 94 avaliações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forte, com histórico de avaliações que sustenta a média.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4448" y="2057400"/>
            <a:ext cx="5227168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90208" y="2286000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VIGIAR · AMOSTRA PEQUENA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90208" y="2606040"/>
            <a:ext cx="449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 ★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690208" y="3474720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Volkswagen Portalegre — só 3 avaliações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90208" y="384048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avaliações erradas a definir a média de um perfil inteiro.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0F1E3D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7280" y="489204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estrela é uma chamada ganha ou perdida. </a:t>
            </a:r>
            <a:pPr indent="0" marL="0">
              <a:buNone/>
            </a:pPr>
            <a:r>
              <a:rPr lang="en-US" sz="14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achado menos firme do conjunto: 3 avaliações não definem um perfil — a confirmar com os vossos dados.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Módulo 3, Knowledge Panels do Google, jul 2026. Amostra pequena assinalada explicitamente.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8862B"/>
                </a:solidFill>
                <a:latin typeface="Calibri"/>
              </a:rPr>
              <a:t>ACHADO 2 · EXPANSÃO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333"/>
                </a:solidFill>
                <a:latin typeface="Cambria"/>
              </a:rPr>
              <a:t>Abrantes: presença física, ausência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32461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48256"/>
            <a:ext cx="3246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C0392B"/>
                </a:solidFill>
                <a:latin typeface="Cambria"/>
              </a:rPr>
              <a:t>0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44368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480"/>
                </a:solidFill>
                <a:latin typeface="Calibri"/>
              </a:rPr>
              <a:t>marcas visíveis nas pesquisas locais (Abrantes e Santarém)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58768"/>
            <a:ext cx="32461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86784"/>
            <a:ext cx="3246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C0392B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82896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480"/>
                </a:solidFill>
                <a:latin typeface="Calibri"/>
              </a:rPr>
              <a:t>viaturas usadas no stock online do grupo na zona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965960"/>
            <a:ext cx="7388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C2333"/>
                </a:solidFill>
                <a:latin typeface="Cambria"/>
              </a:rPr>
              <a:t>A nova loja de junho de 2026 ainda não existe onde os clientes procuram primeiro.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3008376"/>
            <a:ext cx="137160" cy="13716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944368"/>
            <a:ext cx="7040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333"/>
                </a:solidFill>
                <a:latin typeface="Calibri"/>
              </a:rPr>
              <a:t>Nem orgânico, nem mapas, nem perfil próprio — em nenhuma das 5 marcas.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3666744"/>
            <a:ext cx="137160" cy="13716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3602736"/>
            <a:ext cx="7040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333"/>
                </a:solidFill>
                <a:latin typeface="Calibri"/>
              </a:rPr>
              <a:t>O próprio site amatoscar.pt ainda lista apenas 5 distritos: Abrantes não aparece.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4325112"/>
            <a:ext cx="137160" cy="13716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4261104"/>
            <a:ext cx="7040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333"/>
                </a:solidFill>
                <a:latin typeface="Calibri"/>
              </a:rPr>
              <a:t>Não há uma única viatura usada em stock online na zona — a montra digital está vazia.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4983480"/>
            <a:ext cx="137160" cy="13716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4919472"/>
            <a:ext cx="7040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333"/>
                </a:solidFill>
                <a:latin typeface="Calibri"/>
              </a:rPr>
              <a:t>Quem procura encontra concorrentes locais (Cremilcar, Spotcars), não a MatosCar.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650992"/>
            <a:ext cx="10908792" cy="53035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650992"/>
            <a:ext cx="9994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333"/>
                </a:solidFill>
                <a:latin typeface="Cambria"/>
              </a:rPr>
              <a:t>Dois sinais públicos e independentes apontam para o mesmo: o digital ainda não acompanhou a abertura física.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Calibri"/>
              </a:rPr>
              <a:t>Fonte: Módulo 3 (10 pesquisas em Abrantes/Santarém) + stock público amatoscar.pt, jul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4 · ALOCAÇÃO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procura e o investimento promocional estão desalinhados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27168" cy="2788920"/>
          </a:xfrm>
          <a:prstGeom prst="roundRect">
            <a:avLst>
              <a:gd name="adj" fmla="val 2951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40280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MAIS CONSISTENTE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Citroën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449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marca com sinal de procura mais uniforme nos 5 distritos MatosCar (todos entre os mais fortes do país).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206240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Campanhas activas hoje:  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448" y="2011680"/>
            <a:ext cx="5227168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90208" y="2240280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ACTIVAS HOJE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90208" y="256032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Kia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90208" y="3246120"/>
            <a:ext cx="449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campanhas em destaque na homepage (Gama Elétrica e Gama SUV) — enquanto a Citroën, mais procurada, não tem nenhuma.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marca com melhor sinal de procura orgânica é a que recebe menos atenção promocional.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procura via Google Trends (sinal relativo, Módulo 1); campanhas visíveis em amatoscar.pt, jul 2026.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3 · PLACAR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concorrência licita, a MatosCar não aparece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5740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2286000"/>
            <a:ext cx="4053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818120" y="2423160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em 35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818120" y="3108960"/>
            <a:ext cx="3413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locais com anúncio pago da MatosCar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0" y="3840480"/>
            <a:ext cx="4053535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18120" y="393192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818120" y="4663440"/>
            <a:ext cx="3413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dessas pesquisas tinham anúncio de um concorrente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Módulo 3, 35 pesquisas locais em modo incógnito, jul 2026. % = presença da MatosCar nos resultados.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OUTRO LADO — NÃO É TUDO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já existe — falta ligá-la às marcas certas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62858" cy="2194560"/>
          </a:xfrm>
          <a:prstGeom prst="roundRect">
            <a:avLst>
              <a:gd name="adj" fmla="val 3750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online real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usados já há um fluxo completo — sinal de 300€, stock com matrícula, preço fixo. Funciona.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4418" y="1965960"/>
            <a:ext cx="3362858" cy="2194560"/>
          </a:xfrm>
          <a:prstGeom prst="roundRect">
            <a:avLst>
              <a:gd name="adj" fmla="val 3750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4458" y="219456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473445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4458" y="27889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de eléctricos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34458" y="324612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educativa clara sobre EV / híbridos, com FAQ. Bom conteúdo — dos melhores do site.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8757" y="1965960"/>
            <a:ext cx="3362858" cy="2194560"/>
          </a:xfrm>
          <a:prstGeom prst="roundRect">
            <a:avLst>
              <a:gd name="adj" fmla="val 3750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8797" y="219456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8797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8797" y="27889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Fundações digitais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8797" y="324612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visíveis, chatbot activo, site mobile. O essencial está montado.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0F1E3D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457200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não é falta de capacidade — é ligação.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50749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marcas analisadas estão fora do hub de eléctricos, e o fluxo de reserva ainda não passou dos usados para os novos. Infraestrutura pronta, subaproveitada.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FARIA PRIMEIRO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quick wins, por ordem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1305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Segmentar o Google Business por marca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5877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Criar/corrigir os perfis de Audi e BYD para deixarem de mostrar concorrentes.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01000" y="2350008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350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baixo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46920" y="235000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9646920" y="23500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alto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091153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35021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Recuperar os perfis de reputação fracos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39593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simples de avaliações onde a média está a magoar (ex.: VW Portalegre).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01000" y="3721608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37216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baixo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46920" y="372160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9646920" y="3721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médio-alto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1153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48737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presença digital a Abrantes / Santarém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37360" y="53309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locais e conteúdo para a nova abertura aparecer nas pesquisas da zona.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01000" y="5093208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50932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médio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46920" y="509320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9646920" y="5093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alto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Impacto/esforço qualitativos — sem dados internos não estimo euros. Priorização honesta, a validar com os vossos números.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7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NÍVEL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Isto foi sem os vossos dados. Imaginem com eles.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7168" cy="1234440"/>
          </a:xfrm>
          <a:prstGeom prst="roundRect">
            <a:avLst>
              <a:gd name="adj" fmla="val 5926"/>
            </a:avLst>
          </a:prstGeom>
          <a:solidFill>
            <a:srgbClr val="17284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449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funil converte — e em que passo se perdem os contactos.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4448" y="1965960"/>
            <a:ext cx="5227168" cy="1234440"/>
          </a:xfrm>
          <a:prstGeom prst="roundRect">
            <a:avLst>
              <a:gd name="adj" fmla="val 5926"/>
            </a:avLst>
          </a:prstGeom>
          <a:solidFill>
            <a:srgbClr val="17284A"/>
          </a:solidFill>
          <a:ln/>
        </p:spPr>
      </p:sp>
      <p:sp>
        <p:nvSpPr>
          <p:cNvPr id="8" name="Text 6"/>
          <p:cNvSpPr/>
          <p:nvPr/>
        </p:nvSpPr>
        <p:spPr>
          <a:xfrm>
            <a:off x="6690208" y="2148840"/>
            <a:ext cx="449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90208" y="256032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pago traz, a que custo, e em que marca compensa começar.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227168" cy="1234440"/>
          </a:xfrm>
          <a:prstGeom prst="roundRect">
            <a:avLst>
              <a:gd name="adj" fmla="val 5926"/>
            </a:avLst>
          </a:prstGeom>
          <a:solidFill>
            <a:srgbClr val="1728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03320"/>
            <a:ext cx="449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Vendas / CRM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marca dá margem, não só cliques. Priorizar por lucro.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4448" y="3520440"/>
            <a:ext cx="5227168" cy="1234440"/>
          </a:xfrm>
          <a:prstGeom prst="roundRect">
            <a:avLst>
              <a:gd name="adj" fmla="val 5926"/>
            </a:avLst>
          </a:prstGeom>
          <a:solidFill>
            <a:srgbClr val="172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690208" y="3703320"/>
            <a:ext cx="449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Retoma (Indicata)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90208" y="411480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do usado e da recompra — o motor de margem do grupo.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de “onde há procura” para “quanto vale cada lead — e onde o estão a perder”.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do diagnóstico público ao plano com os vossos dados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659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1965960"/>
            <a:ext cx="7162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este diagnóstico num plano de captação de procura, marca a marca e distrito a distrito.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35808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035808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preciso de vós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3035808"/>
            <a:ext cx="7162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Google Analytics, Google Ads e vendas por marca dos últimos 12 meses.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05656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105656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entrego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4105656"/>
            <a:ext cx="7162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conversão do funil, prioridade de investimento por marca × distrito, e plano de visibilidade local.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75504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F3F6FB"/>
          </a:solidFill>
          <a:ln w="12700">
            <a:solidFill>
              <a:srgbClr val="DEE5F0"/>
            </a:solidFill>
            <a:prstDash val="solid"/>
          </a:ln>
          <a:effectLst>
            <a:outerShdw sx="100000" sy="100000" kx="0" ky="0" algn="bl" rotWithShape="0" blurRad="88900" dist="38100" dir="5400000">
              <a:srgbClr val="22314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5175504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5175504"/>
            <a:ext cx="7162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semanas, com um ponto de situação a meio.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trabalho em contexto real — analítica e accionável, com métricas de sucesso acordadas à partida.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663440"/>
            <a:ext cx="3108960" cy="3108960"/>
          </a:xfrm>
          <a:prstGeom prst="ellipse">
            <a:avLst/>
          </a:prstGeom>
          <a:solidFill>
            <a:srgbClr val="0F1E3D"/>
          </a:solidFill>
          <a:ln w="13970">
            <a:solidFill>
              <a:srgbClr val="B88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5074920"/>
            <a:ext cx="2286000" cy="2286000"/>
          </a:xfrm>
          <a:prstGeom prst="ellipse">
            <a:avLst/>
          </a:prstGeom>
          <a:solidFill>
            <a:srgbClr val="0F1E3D"/>
          </a:solidFill>
          <a:ln w="13970">
            <a:solidFill>
              <a:srgbClr val="B8862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5486400"/>
            <a:ext cx="1463040" cy="1463040"/>
          </a:xfrm>
          <a:prstGeom prst="ellipse">
            <a:avLst/>
          </a:prstGeom>
          <a:solidFill>
            <a:srgbClr val="0F1E3D"/>
          </a:solidFill>
          <a:ln w="13970">
            <a:solidFill>
              <a:srgbClr val="B8862B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Descobri isto sem acesso.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ele, vou muito mais fundo.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19050">
            <a:solidFill>
              <a:srgbClr val="B88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Cruz</a:t>
            </a:r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Analista de Dados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saramscruz@gmail.com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MatosCar · Auditoria de Procura Digital · dados públicos, jun–jul 2026.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8862B"/>
                </a:solidFill>
                <a:latin typeface="Calibri"/>
              </a:rPr>
              <a:t>O RETRATO DO STOCK ·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333"/>
                </a:solidFill>
                <a:latin typeface="Cambria"/>
              </a:rPr>
              <a:t>Onde está o inventário — e o que ele já diz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33649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29968"/>
            <a:ext cx="33649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0F1E3D"/>
                </a:solidFill>
                <a:latin typeface="Cambria"/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07792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480"/>
                </a:solidFill>
                <a:latin typeface="Calibri"/>
              </a:rPr>
              <a:t>viaturas usadas online · 08/07/2026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920240"/>
            <a:ext cx="33649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2029968"/>
            <a:ext cx="33649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0F1E3D"/>
                </a:solidFill>
                <a:latin typeface="Cambria"/>
              </a:rPr>
              <a:t>27.500 €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907792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480"/>
                </a:solidFill>
                <a:latin typeface="Calibri"/>
              </a:rPr>
              <a:t>preço mediano · de 8.950 € a 171.265 €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3024" y="1920240"/>
            <a:ext cx="33649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2029968"/>
            <a:ext cx="33649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0F1E3D"/>
                </a:solidFill>
                <a:latin typeface="Cambria"/>
              </a:rPr>
              <a:t>37%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1624" y="2907792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480"/>
                </a:solidFill>
                <a:latin typeface="Calibri"/>
              </a:rPr>
              <a:t>eletrificadas · 43 elétricos + 28 híbridos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5349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49039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B8862B"/>
                </a:solidFill>
                <a:latin typeface="Calibri"/>
              </a:rPr>
              <a:t>CONCENTRAÇÃO GEOGRÁFICA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4164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C2333"/>
                </a:solidFill>
                <a:latin typeface="Cambria"/>
              </a:rPr>
              <a:t>Évora — 122 viaturas · 64% · mediana 30.850 €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074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0"/>
                </a:solidFill>
                <a:latin typeface="Calibri"/>
              </a:rPr>
              <a:t>Guarda 34 · C. Branco 18 · Portalegre 9 · Beja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001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Abrantes / Santarém — 0 viaturas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11880"/>
            <a:ext cx="5349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749039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B8862B"/>
                </a:solidFill>
                <a:latin typeface="Calibri"/>
              </a:rPr>
              <a:t>O VOLUME VIVE NOUTRAS MARCAS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04164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C2333"/>
                </a:solidFill>
                <a:latin typeface="Cambria"/>
              </a:rPr>
              <a:t>Mais stock: BMW 27 · Nissan 25 · Hyundai 22 · Kia 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074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6B7480"/>
                </a:solidFill>
                <a:latin typeface="Calibri"/>
              </a:rPr>
              <a:t>Menos stock: Audi 7 · Citroën 4 · BYD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70001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333"/>
                </a:solidFill>
                <a:latin typeface="Calibri"/>
              </a:rPr>
              <a:t>As 5 marcas do estudo não são as de maior volume.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85232"/>
            <a:ext cx="10908792" cy="8229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85232"/>
            <a:ext cx="999439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1">
                <a:solidFill>
                  <a:srgbClr val="1C2333"/>
                </a:solidFill>
                <a:latin typeface="Cambria"/>
              </a:rPr>
              <a:t>As 5 marcas do estudo são a lente da procura. O radar de stock cobre as 29 marcas do grupo — incluindo onde está o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Calibri"/>
              </a:rPr>
              <a:t>Fonte: stock público de amatoscar.pt, recolhido em 08/07/2026 (191/191 viaturas). “Saída de stock” é proxy de rotação, não venda confirmada.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8862B"/>
                </a:solidFill>
                <a:latin typeface="Calibri"/>
              </a:rPr>
              <a:t>A PROVA QUE POSSO DAR JÁ · SEM OS VOSSOS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333"/>
                </a:solidFill>
                <a:latin typeface="Cambria"/>
              </a:rPr>
              <a:t>Um piloto de custo zero: corrigir e medir o antes e o depois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19" y="2286000"/>
            <a:ext cx="1188720" cy="42062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286000"/>
            <a:ext cx="1188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85292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333"/>
                </a:solidFill>
                <a:latin typeface="Cambria"/>
              </a:rPr>
              <a:t>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383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B7480"/>
                </a:solidFill>
                <a:latin typeface="Calibri"/>
              </a:rPr>
              <a:t>A pesquisa “BYD Castelo Branco” mostra a Rodda, um concorrente — não a MatosCar. Registo datado.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9659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6007" y="2286000"/>
            <a:ext cx="1188720" cy="42062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286000"/>
            <a:ext cx="1188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85292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333"/>
                </a:solidFill>
                <a:latin typeface="Cambria"/>
              </a:rPr>
              <a:t>A vossa equipa corrige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383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B7480"/>
                </a:solidFill>
                <a:latin typeface="Calibri"/>
              </a:rPr>
              <a:t>Criar e segmentar o perfil de Google Business da BYD. Trabalho vosso, minutos, sem custo.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19659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11896" y="2286000"/>
            <a:ext cx="1188720" cy="42062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2286000"/>
            <a:ext cx="1188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+8 SEM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5292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333"/>
                </a:solidFill>
                <a:latin typeface="Cambria"/>
              </a:rPr>
              <a:t>Eu re-meço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383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B7480"/>
                </a:solidFill>
                <a:latin typeface="Calibri"/>
              </a:rPr>
              <a:t>Repito a mesma pesquisa pública. Passou a aparecer a MatosCar? Prova limpa e atribuível.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908792" cy="12070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99943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333"/>
                </a:solidFill>
                <a:latin typeface="Cambria"/>
              </a:rPr>
              <a:t>Prometo a visibilidade como prova; a rotação do stock como hipótese a acompanhar.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85232"/>
            <a:ext cx="9994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6B7480"/>
                </a:solidFill>
                <a:latin typeface="Calibri"/>
              </a:rPr>
              <a:t>Só preciso do vosso “sim” para usar o site e de escolherem uma marca × distrito. Zero acesso a dados internos, zero risco.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Calibri"/>
              </a:rPr>
              <a:t>Piloto desenhado sobre dados 100% públicos (SERP + stock do próprio site). Métrica primária = visibilidade; secundária = rotação-proxy, direcional.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MatosCar — Auditoria de Procura Digital</dc:title>
  <dc:subject>PptxGenJS Presentation</dc:subject>
  <dc:creator>Sara Cruz</dc:creator>
  <cp:lastModifiedBy>Sara Cruz</cp:lastModifiedBy>
  <cp:revision>1</cp:revision>
  <dcterms:created xsi:type="dcterms:W3CDTF">2026-07-07T22:21:20Z</dcterms:created>
  <dcterms:modified xsi:type="dcterms:W3CDTF">2026-07-07T22:21:20Z</dcterms:modified>
</cp:coreProperties>
</file>